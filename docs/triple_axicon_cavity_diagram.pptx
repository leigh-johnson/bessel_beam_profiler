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668250" cy="487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 snapToObjects="1">
      <p:cViewPr>
        <p:scale>
          <a:sx n="125" d="100"/>
          <a:sy n="125" d="100"/>
        </p:scale>
        <p:origin x="480" y="1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xicon 2">
            <a:extLst>
              <a:ext uri="{FF2B5EF4-FFF2-40B4-BE49-F238E27FC236}">
                <a16:creationId xmlns:a16="http://schemas.microsoft.com/office/drawing/2014/main" id="{143FF15C-E2E2-EC51-21BE-46D16AF5A400}"/>
              </a:ext>
            </a:extLst>
          </p:cNvPr>
          <p:cNvSpPr/>
          <p:nvPr/>
        </p:nvSpPr>
        <p:spPr>
          <a:xfrm flipH="1">
            <a:off x="714375" y="961802"/>
            <a:ext cx="394335" cy="2628900"/>
          </a:xfrm>
          <a:custGeom>
            <a:avLst/>
            <a:gdLst/>
            <a:ahLst/>
            <a:cxnLst/>
            <a:rect l="l" t="t" r="r" b="b"/>
            <a:pathLst>
              <a:path w="394335" h="2628900">
                <a:moveTo>
                  <a:pt x="0" y="1314450"/>
                </a:moveTo>
                <a:lnTo>
                  <a:pt x="394335" y="0"/>
                </a:lnTo>
                <a:lnTo>
                  <a:pt x="394335" y="2628900"/>
                </a:lnTo>
                <a:close/>
              </a:path>
            </a:pathLst>
          </a:custGeom>
          <a:solidFill>
            <a:srgbClr val="8FE0EE"/>
          </a:solidFill>
          <a:ln w="13970">
            <a:solidFill>
              <a:srgbClr val="1F95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" name="optical axis"/>
          <p:cNvCxnSpPr/>
          <p:nvPr/>
        </p:nvCxnSpPr>
        <p:spPr>
          <a:xfrm>
            <a:off x="76200" y="2286000"/>
            <a:ext cx="12515850" cy="0"/>
          </a:xfrm>
          <a:prstGeom prst="line">
            <a:avLst/>
          </a:prstGeom>
          <a:ln w="10160">
            <a:solidFill>
              <a:srgbClr val="888888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xicon 2"/>
          <p:cNvSpPr/>
          <p:nvPr/>
        </p:nvSpPr>
        <p:spPr>
          <a:xfrm>
            <a:off x="3543300" y="971550"/>
            <a:ext cx="394335" cy="2628900"/>
          </a:xfrm>
          <a:custGeom>
            <a:avLst/>
            <a:gdLst/>
            <a:ahLst/>
            <a:cxnLst/>
            <a:rect l="l" t="t" r="r" b="b"/>
            <a:pathLst>
              <a:path w="394335" h="2628900">
                <a:moveTo>
                  <a:pt x="0" y="1314450"/>
                </a:moveTo>
                <a:lnTo>
                  <a:pt x="394335" y="0"/>
                </a:lnTo>
                <a:lnTo>
                  <a:pt x="394335" y="2628900"/>
                </a:lnTo>
                <a:close/>
              </a:path>
            </a:pathLst>
          </a:custGeom>
          <a:solidFill>
            <a:srgbClr val="8FE0EE"/>
          </a:solidFill>
          <a:ln w="13970">
            <a:solidFill>
              <a:srgbClr val="1F95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xicon 3"/>
          <p:cNvSpPr/>
          <p:nvPr/>
        </p:nvSpPr>
        <p:spPr>
          <a:xfrm>
            <a:off x="4661200" y="1018952"/>
            <a:ext cx="387050" cy="2548840"/>
          </a:xfrm>
          <a:custGeom>
            <a:avLst/>
            <a:gdLst/>
            <a:ahLst/>
            <a:cxnLst/>
            <a:rect l="l" t="t" r="r" b="b"/>
            <a:pathLst>
              <a:path w="342900" h="2449285">
                <a:moveTo>
                  <a:pt x="0" y="0"/>
                </a:moveTo>
                <a:lnTo>
                  <a:pt x="0" y="2449285"/>
                </a:lnTo>
                <a:lnTo>
                  <a:pt x="342900" y="1224643"/>
                </a:lnTo>
                <a:close/>
              </a:path>
            </a:pathLst>
          </a:custGeom>
          <a:solidFill>
            <a:srgbClr val="8FE0EE"/>
          </a:solidFill>
          <a:ln w="13970">
            <a:solidFill>
              <a:srgbClr val="1F95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ay outer top"/>
          <p:cNvSpPr/>
          <p:nvPr/>
        </p:nvSpPr>
        <p:spPr>
          <a:xfrm>
            <a:off x="152400" y="1564368"/>
            <a:ext cx="11994866" cy="1461220"/>
          </a:xfrm>
          <a:custGeom>
            <a:avLst/>
            <a:gdLst/>
            <a:ahLst/>
            <a:cxnLst/>
            <a:rect l="l" t="t" r="r" b="b"/>
            <a:pathLst>
              <a:path w="11994866" h="1461220">
                <a:moveTo>
                  <a:pt x="0" y="7257"/>
                </a:moveTo>
                <a:lnTo>
                  <a:pt x="704850" y="7257"/>
                </a:lnTo>
                <a:lnTo>
                  <a:pt x="3612776" y="1461220"/>
                </a:lnTo>
                <a:lnTo>
                  <a:pt x="4688765" y="1461220"/>
                </a:lnTo>
                <a:lnTo>
                  <a:pt x="11994866" y="0"/>
                </a:lnTo>
              </a:path>
            </a:pathLst>
          </a:custGeom>
          <a:noFill/>
          <a:ln w="1333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ay outer bottom"/>
          <p:cNvSpPr/>
          <p:nvPr/>
        </p:nvSpPr>
        <p:spPr>
          <a:xfrm>
            <a:off x="152400" y="1546411"/>
            <a:ext cx="11994866" cy="1461220"/>
          </a:xfrm>
          <a:custGeom>
            <a:avLst/>
            <a:gdLst/>
            <a:ahLst/>
            <a:cxnLst/>
            <a:rect l="l" t="t" r="r" b="b"/>
            <a:pathLst>
              <a:path w="11994866" h="1461220">
                <a:moveTo>
                  <a:pt x="0" y="1453964"/>
                </a:moveTo>
                <a:lnTo>
                  <a:pt x="704850" y="1453964"/>
                </a:lnTo>
                <a:lnTo>
                  <a:pt x="3612776" y="0"/>
                </a:lnTo>
                <a:lnTo>
                  <a:pt x="4688765" y="0"/>
                </a:lnTo>
                <a:lnTo>
                  <a:pt x="11994866" y="1461220"/>
                </a:lnTo>
              </a:path>
            </a:pathLst>
          </a:custGeom>
          <a:noFill/>
          <a:ln w="1333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ay inner top"/>
          <p:cNvSpPr/>
          <p:nvPr/>
        </p:nvSpPr>
        <p:spPr>
          <a:xfrm>
            <a:off x="152400" y="1885949"/>
            <a:ext cx="11994866" cy="1480298"/>
          </a:xfrm>
          <a:custGeom>
            <a:avLst/>
            <a:gdLst/>
            <a:ahLst/>
            <a:cxnLst/>
            <a:rect l="l" t="t" r="r" b="b"/>
            <a:pathLst>
              <a:path w="11994866" h="1480298">
                <a:moveTo>
                  <a:pt x="0" y="66676"/>
                </a:moveTo>
                <a:lnTo>
                  <a:pt x="887730" y="66676"/>
                </a:lnTo>
                <a:lnTo>
                  <a:pt x="3714974" y="1480298"/>
                </a:lnTo>
                <a:lnTo>
                  <a:pt x="4593380" y="1480298"/>
                </a:lnTo>
                <a:lnTo>
                  <a:pt x="11994866" y="0"/>
                </a:lnTo>
              </a:path>
            </a:pathLst>
          </a:custGeom>
          <a:noFill/>
          <a:ln w="1333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ay inner bottom"/>
          <p:cNvSpPr/>
          <p:nvPr/>
        </p:nvSpPr>
        <p:spPr>
          <a:xfrm>
            <a:off x="152400" y="1205752"/>
            <a:ext cx="11994866" cy="1480298"/>
          </a:xfrm>
          <a:custGeom>
            <a:avLst/>
            <a:gdLst/>
            <a:ahLst/>
            <a:cxnLst/>
            <a:rect l="l" t="t" r="r" b="b"/>
            <a:pathLst>
              <a:path w="11994866" h="1480298">
                <a:moveTo>
                  <a:pt x="0" y="1413623"/>
                </a:moveTo>
                <a:lnTo>
                  <a:pt x="887730" y="1413623"/>
                </a:lnTo>
                <a:lnTo>
                  <a:pt x="3714974" y="0"/>
                </a:lnTo>
                <a:lnTo>
                  <a:pt x="4593380" y="0"/>
                </a:lnTo>
                <a:lnTo>
                  <a:pt x="11994866" y="1480298"/>
                </a:lnTo>
              </a:path>
            </a:pathLst>
          </a:custGeom>
          <a:noFill/>
          <a:ln w="1333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Bessel zone"/>
          <p:cNvCxnSpPr/>
          <p:nvPr/>
        </p:nvCxnSpPr>
        <p:spPr>
          <a:xfrm>
            <a:off x="8539106" y="2286000"/>
            <a:ext cx="1607910" cy="0"/>
          </a:xfrm>
          <a:prstGeom prst="line">
            <a:avLst/>
          </a:prstGeom>
          <a:ln w="3302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arker ls"/>
          <p:cNvCxnSpPr/>
          <p:nvPr/>
        </p:nvCxnSpPr>
        <p:spPr>
          <a:xfrm>
            <a:off x="8539106" y="1543050"/>
            <a:ext cx="0" cy="3048000"/>
          </a:xfrm>
          <a:prstGeom prst="line">
            <a:avLst/>
          </a:prstGeom>
          <a:ln w="11430">
            <a:solidFill>
              <a:srgbClr val="CC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arker lf"/>
          <p:cNvCxnSpPr/>
          <p:nvPr/>
        </p:nvCxnSpPr>
        <p:spPr>
          <a:xfrm>
            <a:off x="10147016" y="1543050"/>
            <a:ext cx="0" cy="3048000"/>
          </a:xfrm>
          <a:prstGeom prst="line">
            <a:avLst/>
          </a:prstGeom>
          <a:ln w="11430">
            <a:solidFill>
              <a:srgbClr val="CC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>
            <a:off x="1108710" y="2282638"/>
            <a:ext cx="0" cy="1660712"/>
          </a:xfrm>
          <a:prstGeom prst="line">
            <a:avLst/>
          </a:prstGeom>
          <a:ln w="9525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>
          <a:xfrm>
            <a:off x="3740467" y="3638550"/>
            <a:ext cx="0" cy="400050"/>
          </a:xfrm>
          <a:prstGeom prst="line">
            <a:avLst/>
          </a:prstGeom>
          <a:ln w="9525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76800" y="3567792"/>
            <a:ext cx="0" cy="1023258"/>
          </a:xfrm>
          <a:prstGeom prst="line">
            <a:avLst/>
          </a:prstGeom>
          <a:ln w="9525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im L12"/>
          <p:cNvCxnSpPr>
            <a:cxnSpLocks/>
          </p:cNvCxnSpPr>
          <p:nvPr/>
        </p:nvCxnSpPr>
        <p:spPr>
          <a:xfrm>
            <a:off x="1108710" y="3943350"/>
            <a:ext cx="2631757" cy="0"/>
          </a:xfrm>
          <a:prstGeom prst="line">
            <a:avLst/>
          </a:prstGeom>
          <a:ln w="11430">
            <a:solidFill>
              <a:srgbClr val="11111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abel L12"/>
          <p:cNvSpPr txBox="1"/>
          <p:nvPr/>
        </p:nvSpPr>
        <p:spPr>
          <a:xfrm>
            <a:off x="1117758" y="3715226"/>
            <a:ext cx="24765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i="1">
                <a:solidFill>
                  <a:srgbClr val="111111"/>
                </a:solidFill>
                <a:latin typeface="Arial"/>
              </a:rPr>
              <a:t>L</a:t>
            </a:r>
            <a:r>
              <a:rPr sz="800" i="1" baseline="-25000">
                <a:solidFill>
                  <a:srgbClr val="111111"/>
                </a:solidFill>
                <a:latin typeface="Arial"/>
              </a:rPr>
              <a:t>12</a:t>
            </a:r>
          </a:p>
        </p:txBody>
      </p:sp>
      <p:cxnSp>
        <p:nvCxnSpPr>
          <p:cNvPr id="18" name="dim L23"/>
          <p:cNvCxnSpPr/>
          <p:nvPr/>
        </p:nvCxnSpPr>
        <p:spPr>
          <a:xfrm>
            <a:off x="3740467" y="3943350"/>
            <a:ext cx="1136333" cy="0"/>
          </a:xfrm>
          <a:prstGeom prst="line">
            <a:avLst/>
          </a:prstGeom>
          <a:ln w="11430">
            <a:solidFill>
              <a:srgbClr val="11111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 L23"/>
          <p:cNvSpPr txBox="1"/>
          <p:nvPr/>
        </p:nvSpPr>
        <p:spPr>
          <a:xfrm>
            <a:off x="3070383" y="3715226"/>
            <a:ext cx="24765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i="1">
                <a:solidFill>
                  <a:srgbClr val="111111"/>
                </a:solidFill>
                <a:latin typeface="Arial"/>
              </a:rPr>
              <a:t>L</a:t>
            </a:r>
            <a:r>
              <a:rPr sz="800" i="1" baseline="-25000">
                <a:solidFill>
                  <a:srgbClr val="111111"/>
                </a:solidFill>
                <a:latin typeface="Arial"/>
              </a:rPr>
              <a:t>23</a:t>
            </a:r>
          </a:p>
        </p:txBody>
      </p:sp>
      <p:cxnSp>
        <p:nvCxnSpPr>
          <p:cNvPr id="20" name="dim ls"/>
          <p:cNvCxnSpPr/>
          <p:nvPr/>
        </p:nvCxnSpPr>
        <p:spPr>
          <a:xfrm>
            <a:off x="4876800" y="4267200"/>
            <a:ext cx="3662306" cy="0"/>
          </a:xfrm>
          <a:prstGeom prst="line">
            <a:avLst/>
          </a:prstGeom>
          <a:ln w="11430">
            <a:solidFill>
              <a:srgbClr val="11111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abel start of focal region"/>
          <p:cNvSpPr txBox="1"/>
          <p:nvPr/>
        </p:nvSpPr>
        <p:spPr>
          <a:xfrm>
            <a:off x="5279203" y="4039076"/>
            <a:ext cx="24765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i="0">
                <a:solidFill>
                  <a:srgbClr val="111111"/>
                </a:solidFill>
                <a:latin typeface="Arial"/>
              </a:rPr>
              <a:t>Start of focal region</a:t>
            </a:r>
          </a:p>
        </p:txBody>
      </p:sp>
      <p:sp>
        <p:nvSpPr>
          <p:cNvPr id="22" name="label ls"/>
          <p:cNvSpPr txBox="1"/>
          <p:nvPr/>
        </p:nvSpPr>
        <p:spPr>
          <a:xfrm>
            <a:off x="7168734" y="4011483"/>
            <a:ext cx="46807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400" i="1" dirty="0">
                <a:solidFill>
                  <a:srgbClr val="111111"/>
                </a:solidFill>
                <a:latin typeface="Arial"/>
              </a:rPr>
              <a:t>L</a:t>
            </a:r>
            <a:r>
              <a:rPr lang="en-US" sz="1400" i="1" baseline="-25000" dirty="0">
                <a:solidFill>
                  <a:srgbClr val="111111"/>
                </a:solidFill>
                <a:latin typeface="Arial"/>
              </a:rPr>
              <a:t>3,fstart</a:t>
            </a:r>
          </a:p>
        </p:txBody>
      </p:sp>
      <p:cxnSp>
        <p:nvCxnSpPr>
          <p:cNvPr id="23" name="dim lf"/>
          <p:cNvCxnSpPr/>
          <p:nvPr/>
        </p:nvCxnSpPr>
        <p:spPr>
          <a:xfrm>
            <a:off x="4876800" y="4552950"/>
            <a:ext cx="5270216" cy="0"/>
          </a:xfrm>
          <a:prstGeom prst="line">
            <a:avLst/>
          </a:prstGeom>
          <a:ln w="11430">
            <a:solidFill>
              <a:srgbClr val="11111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abel finish of focal region"/>
          <p:cNvSpPr txBox="1"/>
          <p:nvPr/>
        </p:nvSpPr>
        <p:spPr>
          <a:xfrm>
            <a:off x="7129384" y="4343400"/>
            <a:ext cx="117500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100" i="0" dirty="0">
                <a:solidFill>
                  <a:srgbClr val="111111"/>
                </a:solidFill>
                <a:latin typeface="Arial"/>
              </a:rPr>
              <a:t>End</a:t>
            </a:r>
            <a:r>
              <a:rPr sz="1100" i="0" dirty="0">
                <a:solidFill>
                  <a:srgbClr val="111111"/>
                </a:solidFill>
                <a:latin typeface="Arial"/>
              </a:rPr>
              <a:t> of focal region</a:t>
            </a:r>
          </a:p>
        </p:txBody>
      </p:sp>
      <p:sp>
        <p:nvSpPr>
          <p:cNvPr id="25" name="label lf"/>
          <p:cNvSpPr txBox="1"/>
          <p:nvPr/>
        </p:nvSpPr>
        <p:spPr>
          <a:xfrm>
            <a:off x="8615297" y="4320707"/>
            <a:ext cx="3735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200" i="1" dirty="0">
                <a:solidFill>
                  <a:srgbClr val="111111"/>
                </a:solidFill>
                <a:latin typeface="Arial"/>
              </a:rPr>
              <a:t>L</a:t>
            </a:r>
            <a:r>
              <a:rPr lang="en-US" sz="1200" i="1" baseline="-25000" dirty="0">
                <a:solidFill>
                  <a:srgbClr val="111111"/>
                </a:solidFill>
                <a:latin typeface="Arial"/>
              </a:rPr>
              <a:t>3,fend</a:t>
            </a:r>
            <a:endParaRPr sz="1200" i="1" baseline="-25000" dirty="0">
              <a:solidFill>
                <a:srgbClr val="111111"/>
              </a:solidFill>
              <a:latin typeface="Arial"/>
            </a:endParaRPr>
          </a:p>
        </p:txBody>
      </p:sp>
      <p:cxnSp>
        <p:nvCxnSpPr>
          <p:cNvPr id="26" name="dim Zrange"/>
          <p:cNvCxnSpPr/>
          <p:nvPr/>
        </p:nvCxnSpPr>
        <p:spPr>
          <a:xfrm>
            <a:off x="8539106" y="1638300"/>
            <a:ext cx="1607910" cy="0"/>
          </a:xfrm>
          <a:prstGeom prst="line">
            <a:avLst/>
          </a:prstGeom>
          <a:ln w="11430">
            <a:solidFill>
              <a:srgbClr val="11111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 Zrange"/>
          <p:cNvSpPr txBox="1"/>
          <p:nvPr/>
        </p:nvSpPr>
        <p:spPr>
          <a:xfrm>
            <a:off x="8955135" y="1400651"/>
            <a:ext cx="775854" cy="1436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400" baseline="-25000" dirty="0">
                <a:solidFill>
                  <a:srgbClr val="C00000"/>
                </a:solidFill>
                <a:latin typeface="Arial"/>
              </a:rPr>
              <a:t>&gt; 1 meter long</a:t>
            </a:r>
          </a:p>
        </p:txBody>
      </p:sp>
      <p:sp>
        <p:nvSpPr>
          <p:cNvPr id="28" name="label Bessel range"/>
          <p:cNvSpPr txBox="1"/>
          <p:nvPr/>
        </p:nvSpPr>
        <p:spPr>
          <a:xfrm>
            <a:off x="8988797" y="1259443"/>
            <a:ext cx="708527" cy="1461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i="0" dirty="0">
                <a:solidFill>
                  <a:srgbClr val="C00000"/>
                </a:solidFill>
                <a:latin typeface="Arial"/>
              </a:rPr>
              <a:t>Bessel range</a:t>
            </a:r>
          </a:p>
        </p:txBody>
      </p:sp>
      <p:cxnSp>
        <p:nvCxnSpPr>
          <p:cNvPr id="29" name="dim r"/>
          <p:cNvCxnSpPr/>
          <p:nvPr/>
        </p:nvCxnSpPr>
        <p:spPr>
          <a:xfrm flipV="1">
            <a:off x="381000" y="1571625"/>
            <a:ext cx="0" cy="714375"/>
          </a:xfrm>
          <a:prstGeom prst="line">
            <a:avLst/>
          </a:prstGeom>
          <a:ln w="1079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abel r"/>
          <p:cNvSpPr txBox="1"/>
          <p:nvPr/>
        </p:nvSpPr>
        <p:spPr>
          <a:xfrm>
            <a:off x="158834" y="1753076"/>
            <a:ext cx="15549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100" i="1" dirty="0">
                <a:solidFill>
                  <a:srgbClr val="111111"/>
                </a:solidFill>
                <a:latin typeface="Arial"/>
              </a:rPr>
              <a:t>R</a:t>
            </a:r>
            <a:r>
              <a:rPr lang="en-US" sz="1100" i="1" baseline="-25000" dirty="0">
                <a:solidFill>
                  <a:srgbClr val="111111"/>
                </a:solidFill>
                <a:latin typeface="Arial"/>
              </a:rPr>
              <a:t>1</a:t>
            </a:r>
            <a:endParaRPr sz="1100" i="1" dirty="0">
              <a:solidFill>
                <a:srgbClr val="111111"/>
              </a:solidFill>
              <a:latin typeface="Arial"/>
            </a:endParaRPr>
          </a:p>
        </p:txBody>
      </p:sp>
      <p:cxnSp>
        <p:nvCxnSpPr>
          <p:cNvPr id="31" name="dim Ro"/>
          <p:cNvCxnSpPr/>
          <p:nvPr/>
        </p:nvCxnSpPr>
        <p:spPr>
          <a:xfrm flipV="1">
            <a:off x="4051935" y="1205752"/>
            <a:ext cx="0" cy="1080248"/>
          </a:xfrm>
          <a:prstGeom prst="line">
            <a:avLst/>
          </a:prstGeom>
          <a:ln w="1079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abel Ro"/>
          <p:cNvSpPr txBox="1"/>
          <p:nvPr/>
        </p:nvSpPr>
        <p:spPr>
          <a:xfrm>
            <a:off x="4109085" y="1276826"/>
            <a:ext cx="31739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i="1" dirty="0">
                <a:solidFill>
                  <a:srgbClr val="111111"/>
                </a:solidFill>
                <a:latin typeface="Arial"/>
              </a:rPr>
              <a:t>R</a:t>
            </a:r>
            <a:r>
              <a:rPr lang="en-US" sz="800" i="1" baseline="-25000" dirty="0">
                <a:solidFill>
                  <a:srgbClr val="111111"/>
                </a:solidFill>
                <a:latin typeface="Arial"/>
              </a:rPr>
              <a:t>2,outer</a:t>
            </a:r>
            <a:endParaRPr sz="800" i="1" baseline="-25000" dirty="0">
              <a:solidFill>
                <a:srgbClr val="111111"/>
              </a:solidFill>
              <a:latin typeface="Arial"/>
            </a:endParaRPr>
          </a:p>
        </p:txBody>
      </p:sp>
      <p:cxnSp>
        <p:nvCxnSpPr>
          <p:cNvPr id="33" name="dim R1"/>
          <p:cNvCxnSpPr/>
          <p:nvPr/>
        </p:nvCxnSpPr>
        <p:spPr>
          <a:xfrm flipV="1">
            <a:off x="4189810" y="1546410"/>
            <a:ext cx="0" cy="739589"/>
          </a:xfrm>
          <a:prstGeom prst="line">
            <a:avLst/>
          </a:prstGeom>
          <a:ln w="1079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abel R1"/>
          <p:cNvSpPr txBox="1"/>
          <p:nvPr/>
        </p:nvSpPr>
        <p:spPr>
          <a:xfrm>
            <a:off x="4249889" y="1543526"/>
            <a:ext cx="312586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i="1" dirty="0">
                <a:solidFill>
                  <a:srgbClr val="111111"/>
                </a:solidFill>
                <a:latin typeface="Arial"/>
              </a:rPr>
              <a:t>R</a:t>
            </a:r>
            <a:r>
              <a:rPr lang="en-US" sz="800" i="1" baseline="-25000" dirty="0">
                <a:solidFill>
                  <a:srgbClr val="111111"/>
                </a:solidFill>
                <a:latin typeface="Arial"/>
              </a:rPr>
              <a:t>2,inner</a:t>
            </a:r>
            <a:endParaRPr sz="800" i="1" baseline="-25000" dirty="0">
              <a:solidFill>
                <a:srgbClr val="111111"/>
              </a:solidFill>
              <a:latin typeface="Arial"/>
            </a:endParaRPr>
          </a:p>
        </p:txBody>
      </p:sp>
      <p:cxnSp>
        <p:nvCxnSpPr>
          <p:cNvPr id="35" name="angle ref beta1"/>
          <p:cNvCxnSpPr/>
          <p:nvPr/>
        </p:nvCxnSpPr>
        <p:spPr>
          <a:xfrm>
            <a:off x="857250" y="1571625"/>
            <a:ext cx="647700" cy="0"/>
          </a:xfrm>
          <a:prstGeom prst="line">
            <a:avLst/>
          </a:prstGeom>
          <a:ln w="9525">
            <a:solidFill>
              <a:srgbClr val="666666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label beta1"/>
          <p:cNvSpPr txBox="1"/>
          <p:nvPr/>
        </p:nvSpPr>
        <p:spPr>
          <a:xfrm>
            <a:off x="1333500" y="1579006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i="1">
                <a:solidFill>
                  <a:srgbClr val="111111"/>
                </a:solidFill>
                <a:latin typeface="Arial"/>
              </a:rPr>
              <a:t>β</a:t>
            </a:r>
            <a:r>
              <a:rPr sz="800" i="1" baseline="-2500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37" name="label alpha1"/>
          <p:cNvSpPr txBox="1"/>
          <p:nvPr/>
        </p:nvSpPr>
        <p:spPr>
          <a:xfrm>
            <a:off x="863917" y="1233275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i="1" dirty="0">
                <a:solidFill>
                  <a:srgbClr val="111111"/>
                </a:solidFill>
                <a:latin typeface="Arial"/>
              </a:rPr>
              <a:t>α</a:t>
            </a:r>
            <a:r>
              <a:rPr sz="800" i="1" baseline="-25000" dirty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38" name="label alpha3"/>
          <p:cNvSpPr txBox="1"/>
          <p:nvPr/>
        </p:nvSpPr>
        <p:spPr>
          <a:xfrm>
            <a:off x="4791075" y="1068739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i="1">
                <a:solidFill>
                  <a:srgbClr val="111111"/>
                </a:solidFill>
                <a:latin typeface="Arial"/>
              </a:rPr>
              <a:t>α</a:t>
            </a:r>
            <a:r>
              <a:rPr sz="800" i="1" baseline="-2500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cxnSp>
        <p:nvCxnSpPr>
          <p:cNvPr id="39" name="angle ref beta3"/>
          <p:cNvCxnSpPr/>
          <p:nvPr/>
        </p:nvCxnSpPr>
        <p:spPr>
          <a:xfrm>
            <a:off x="4841165" y="1546411"/>
            <a:ext cx="685800" cy="0"/>
          </a:xfrm>
          <a:prstGeom prst="line">
            <a:avLst/>
          </a:prstGeom>
          <a:ln w="9525">
            <a:solidFill>
              <a:srgbClr val="666666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label beta3"/>
          <p:cNvSpPr txBox="1"/>
          <p:nvPr/>
        </p:nvSpPr>
        <p:spPr>
          <a:xfrm>
            <a:off x="5336465" y="1344243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i="1">
                <a:solidFill>
                  <a:srgbClr val="111111"/>
                </a:solidFill>
                <a:latin typeface="Arial"/>
              </a:rPr>
              <a:t>β</a:t>
            </a:r>
            <a:r>
              <a:rPr sz="800" i="1" baseline="-2500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41" name="title axicon 1"/>
          <p:cNvSpPr txBox="1"/>
          <p:nvPr/>
        </p:nvSpPr>
        <p:spPr>
          <a:xfrm>
            <a:off x="-523876" y="694512"/>
            <a:ext cx="2476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i="0" dirty="0">
                <a:solidFill>
                  <a:srgbClr val="111111"/>
                </a:solidFill>
                <a:latin typeface="Arial"/>
              </a:rPr>
              <a:t>axicon 1</a:t>
            </a:r>
          </a:p>
        </p:txBody>
      </p:sp>
      <p:sp>
        <p:nvSpPr>
          <p:cNvPr id="42" name="title axicon 2"/>
          <p:cNvSpPr txBox="1"/>
          <p:nvPr/>
        </p:nvSpPr>
        <p:spPr>
          <a:xfrm>
            <a:off x="2913192" y="661117"/>
            <a:ext cx="1577975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i="0" dirty="0">
                <a:solidFill>
                  <a:srgbClr val="111111"/>
                </a:solidFill>
                <a:latin typeface="Arial"/>
              </a:rPr>
              <a:t>axicon 2</a:t>
            </a:r>
          </a:p>
        </p:txBody>
      </p:sp>
      <p:sp>
        <p:nvSpPr>
          <p:cNvPr id="43" name="title axicon 3"/>
          <p:cNvSpPr txBox="1"/>
          <p:nvPr/>
        </p:nvSpPr>
        <p:spPr>
          <a:xfrm>
            <a:off x="3673333" y="647700"/>
            <a:ext cx="2476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i="0" dirty="0">
                <a:solidFill>
                  <a:srgbClr val="111111"/>
                </a:solidFill>
                <a:latin typeface="Arial"/>
              </a:rPr>
              <a:t>axicon 3</a:t>
            </a:r>
          </a:p>
        </p:txBody>
      </p:sp>
      <p:sp>
        <p:nvSpPr>
          <p:cNvPr id="44" name="mirror 1"/>
          <p:cNvSpPr/>
          <p:nvPr/>
        </p:nvSpPr>
        <p:spPr>
          <a:xfrm>
            <a:off x="8472431" y="1841685"/>
            <a:ext cx="66675" cy="968189"/>
          </a:xfrm>
          <a:prstGeom prst="ellipse">
            <a:avLst/>
          </a:prstGeom>
          <a:solidFill>
            <a:srgbClr val="DFE3F0"/>
          </a:solidFill>
          <a:ln w="15240">
            <a:solidFill>
              <a:srgbClr val="44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mirror 2"/>
          <p:cNvSpPr/>
          <p:nvPr/>
        </p:nvSpPr>
        <p:spPr>
          <a:xfrm flipH="1">
            <a:off x="12261386" y="1963298"/>
            <a:ext cx="59975" cy="663359"/>
          </a:xfrm>
          <a:prstGeom prst="ellipse">
            <a:avLst/>
          </a:prstGeom>
          <a:solidFill>
            <a:srgbClr val="DFE3F0"/>
          </a:solidFill>
          <a:ln w="15240">
            <a:solidFill>
              <a:srgbClr val="44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mirror 1 leader"/>
          <p:cNvCxnSpPr>
            <a:cxnSpLocks/>
            <a:stCxn id="48" idx="3"/>
          </p:cNvCxnSpPr>
          <p:nvPr/>
        </p:nvCxnSpPr>
        <p:spPr>
          <a:xfrm>
            <a:off x="8169929" y="1303731"/>
            <a:ext cx="285846" cy="460778"/>
          </a:xfrm>
          <a:prstGeom prst="line">
            <a:avLst/>
          </a:prstGeom>
          <a:ln w="9525">
            <a:solidFill>
              <a:srgbClr val="4449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mirror 2 leader"/>
          <p:cNvCxnSpPr>
            <a:cxnSpLocks/>
            <a:stCxn id="49" idx="2"/>
          </p:cNvCxnSpPr>
          <p:nvPr/>
        </p:nvCxnSpPr>
        <p:spPr>
          <a:xfrm>
            <a:off x="11740257" y="1313596"/>
            <a:ext cx="483209" cy="522019"/>
          </a:xfrm>
          <a:prstGeom prst="line">
            <a:avLst/>
          </a:prstGeom>
          <a:ln w="9525">
            <a:solidFill>
              <a:srgbClr val="44496B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label mirror 1"/>
          <p:cNvSpPr txBox="1"/>
          <p:nvPr/>
        </p:nvSpPr>
        <p:spPr>
          <a:xfrm>
            <a:off x="7225695" y="1061357"/>
            <a:ext cx="944234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50" i="0" dirty="0">
                <a:solidFill>
                  <a:srgbClr val="44496B"/>
                </a:solidFill>
                <a:latin typeface="Arial"/>
              </a:rPr>
              <a:t>Beam fits within</a:t>
            </a:r>
            <a:br>
              <a:rPr lang="en-US" sz="1050" i="0" dirty="0">
                <a:solidFill>
                  <a:srgbClr val="44496B"/>
                </a:solidFill>
                <a:latin typeface="Arial"/>
              </a:rPr>
            </a:br>
            <a:r>
              <a:rPr lang="en-US" sz="1050" i="0" dirty="0">
                <a:solidFill>
                  <a:srgbClr val="44496B"/>
                </a:solidFill>
                <a:latin typeface="Arial"/>
              </a:rPr>
              <a:t>½” </a:t>
            </a:r>
            <a:r>
              <a:rPr sz="1050" i="0" dirty="0">
                <a:solidFill>
                  <a:srgbClr val="44496B"/>
                </a:solidFill>
                <a:latin typeface="Arial"/>
              </a:rPr>
              <a:t>cavity mirror</a:t>
            </a:r>
            <a:br>
              <a:rPr lang="en-US" sz="1050" dirty="0">
                <a:solidFill>
                  <a:srgbClr val="44496B"/>
                </a:solidFill>
                <a:latin typeface="Arial"/>
              </a:rPr>
            </a:br>
            <a:endParaRPr sz="1050" i="0" dirty="0">
              <a:solidFill>
                <a:srgbClr val="44496B"/>
              </a:solidFill>
              <a:latin typeface="Arial"/>
            </a:endParaRPr>
          </a:p>
        </p:txBody>
      </p:sp>
      <p:sp>
        <p:nvSpPr>
          <p:cNvPr id="49" name="label mirror 2"/>
          <p:cNvSpPr txBox="1"/>
          <p:nvPr/>
        </p:nvSpPr>
        <p:spPr>
          <a:xfrm>
            <a:off x="11276187" y="828848"/>
            <a:ext cx="928139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050" i="0" dirty="0">
                <a:solidFill>
                  <a:srgbClr val="44496B"/>
                </a:solidFill>
                <a:latin typeface="Arial"/>
              </a:rPr>
              <a:t>Beam avoids </a:t>
            </a:r>
            <a:br>
              <a:rPr lang="en-US" sz="1050" i="0" dirty="0">
                <a:solidFill>
                  <a:srgbClr val="44496B"/>
                </a:solidFill>
                <a:latin typeface="Arial"/>
              </a:rPr>
            </a:br>
            <a:r>
              <a:rPr lang="en-US" sz="1050" i="0" dirty="0">
                <a:solidFill>
                  <a:srgbClr val="44496B"/>
                </a:solidFill>
                <a:latin typeface="Arial"/>
              </a:rPr>
              <a:t>½”</a:t>
            </a:r>
            <a:r>
              <a:rPr sz="1050" i="0" dirty="0">
                <a:solidFill>
                  <a:srgbClr val="44496B"/>
                </a:solidFill>
                <a:latin typeface="Arial"/>
              </a:rPr>
              <a:t> cavity mirror</a:t>
            </a:r>
            <a:br>
              <a:rPr lang="en-US" sz="1050" i="0" dirty="0">
                <a:solidFill>
                  <a:srgbClr val="44496B"/>
                </a:solidFill>
                <a:latin typeface="Arial"/>
              </a:rPr>
            </a:br>
            <a:r>
              <a:rPr lang="en-US" sz="1050" i="0" dirty="0">
                <a:solidFill>
                  <a:srgbClr val="44496B"/>
                </a:solidFill>
                <a:latin typeface="Arial"/>
              </a:rPr>
              <a:t>(not to scale)</a:t>
            </a:r>
            <a:endParaRPr sz="1050" i="0" dirty="0">
              <a:solidFill>
                <a:srgbClr val="44496B"/>
              </a:solidFill>
              <a:latin typeface="Arial"/>
            </a:endParaRPr>
          </a:p>
        </p:txBody>
      </p:sp>
      <p:cxnSp>
        <p:nvCxnSpPr>
          <p:cNvPr id="53" name="angle ref beta1">
            <a:extLst>
              <a:ext uri="{FF2B5EF4-FFF2-40B4-BE49-F238E27FC236}">
                <a16:creationId xmlns:a16="http://schemas.microsoft.com/office/drawing/2014/main" id="{9AC80216-A27F-812E-78DC-033C120AF649}"/>
              </a:ext>
            </a:extLst>
          </p:cNvPr>
          <p:cNvCxnSpPr>
            <a:cxnSpLocks/>
          </p:cNvCxnSpPr>
          <p:nvPr/>
        </p:nvCxnSpPr>
        <p:spPr>
          <a:xfrm>
            <a:off x="714374" y="1464706"/>
            <a:ext cx="149543" cy="0"/>
          </a:xfrm>
          <a:prstGeom prst="line">
            <a:avLst/>
          </a:prstGeom>
          <a:ln w="9525">
            <a:solidFill>
              <a:srgbClr val="666666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marker lf">
            <a:extLst>
              <a:ext uri="{FF2B5EF4-FFF2-40B4-BE49-F238E27FC236}">
                <a16:creationId xmlns:a16="http://schemas.microsoft.com/office/drawing/2014/main" id="{1BBBB008-2989-1E49-E220-5FD79CA20C4B}"/>
              </a:ext>
            </a:extLst>
          </p:cNvPr>
          <p:cNvCxnSpPr>
            <a:cxnSpLocks/>
          </p:cNvCxnSpPr>
          <p:nvPr/>
        </p:nvCxnSpPr>
        <p:spPr>
          <a:xfrm>
            <a:off x="9338636" y="2131183"/>
            <a:ext cx="0" cy="327588"/>
          </a:xfrm>
          <a:prstGeom prst="line">
            <a:avLst/>
          </a:prstGeom>
          <a:ln w="1143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C58B508-4B6F-2088-CC66-6ABA599FE407}"/>
              </a:ext>
            </a:extLst>
          </p:cNvPr>
          <p:cNvSpPr txBox="1"/>
          <p:nvPr/>
        </p:nvSpPr>
        <p:spPr>
          <a:xfrm>
            <a:off x="6080125" y="2623299"/>
            <a:ext cx="6581774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50" i="0" dirty="0">
                <a:solidFill>
                  <a:schemeClr val="tx2"/>
                </a:solidFill>
                <a:latin typeface="Arial"/>
              </a:rPr>
              <a:t>Central Bessel lobe</a:t>
            </a:r>
          </a:p>
          <a:p>
            <a:pPr algn="ctr"/>
            <a:r>
              <a:rPr lang="en-US" sz="950" dirty="0">
                <a:solidFill>
                  <a:schemeClr val="tx2"/>
                </a:solidFill>
                <a:latin typeface="Arial"/>
              </a:rPr>
              <a:t>&gt; 300 um diameter</a:t>
            </a:r>
            <a:br>
              <a:rPr lang="en-US" sz="950" dirty="0">
                <a:solidFill>
                  <a:schemeClr val="tx2"/>
                </a:solidFill>
                <a:latin typeface="Arial"/>
              </a:rPr>
            </a:br>
            <a:r>
              <a:rPr lang="en-US" sz="950" dirty="0">
                <a:solidFill>
                  <a:schemeClr val="tx2"/>
                </a:solidFill>
                <a:latin typeface="Arial"/>
              </a:rPr>
              <a:t>entire region</a:t>
            </a:r>
          </a:p>
          <a:p>
            <a:pPr algn="ctr"/>
            <a:br>
              <a:rPr lang="en-US" sz="950" dirty="0">
                <a:solidFill>
                  <a:schemeClr val="tx2"/>
                </a:solidFill>
                <a:latin typeface="Arial"/>
              </a:rPr>
            </a:br>
            <a:endParaRPr lang="en-US" sz="950" i="0" dirty="0">
              <a:solidFill>
                <a:schemeClr val="tx2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72</Words>
  <Application>Microsoft Macintosh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Leigh Zaman</cp:lastModifiedBy>
  <cp:revision>3</cp:revision>
  <dcterms:created xsi:type="dcterms:W3CDTF">2013-01-27T09:14:16Z</dcterms:created>
  <dcterms:modified xsi:type="dcterms:W3CDTF">2026-07-14T21:01:04Z</dcterms:modified>
  <cp:category/>
</cp:coreProperties>
</file>